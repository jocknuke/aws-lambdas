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645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Notification Service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49840" y="1645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14400"/>
            <a:ext cx="1088136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88136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426464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Notification Service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215798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Design architecture for a shared internal platform that sends email now, creates ServiceNow tickets when needed, and grows to Teams later.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32688" y="30632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2267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Shared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12848" y="30632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6FFFB"/>
          </a:solidFill>
          <a:ln w="12700">
            <a:solidFill>
              <a:srgbClr val="E6FF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122676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Graph 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75888" y="30632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312267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2410C"/>
                </a:solidFill>
              </a:rPr>
              <a:t>ServiceNow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30368" y="30632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3122676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Teams Ready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0" y="1353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Callers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06840" y="135331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Platform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789920" y="13533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Channels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1993392"/>
            <a:ext cx="5029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515600" y="2011680"/>
            <a:ext cx="25603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515600" y="2816352"/>
            <a:ext cx="25603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515600" y="3621024"/>
            <a:ext cx="25603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33488" y="1700784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43216" y="181051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.NET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79792" y="2066544"/>
            <a:ext cx="731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2505456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43216" y="261518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SQL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79792" y="2871216"/>
            <a:ext cx="731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33488" y="3310128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43216" y="34198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Java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79792" y="3675888"/>
            <a:ext cx="73152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87968" y="1719072"/>
            <a:ext cx="1627632" cy="2121408"/>
          </a:xfrm>
          <a:prstGeom prst="roundRect">
            <a:avLst>
              <a:gd name="adj" fmla="val 4494"/>
            </a:avLst>
          </a:prstGeom>
          <a:solidFill>
            <a:srgbClr val="F8FAFF"/>
          </a:solidFill>
          <a:ln w="12700">
            <a:solidFill>
              <a:srgbClr val="BFD2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97696" y="182880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Shared Notification Service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34272" y="2084832"/>
            <a:ext cx="133502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Queueing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Audit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680192" y="1810512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16768" y="188366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Email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680192" y="2615184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16768" y="268833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SNOW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680192" y="3419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16768" y="349300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</a:rPr>
              <a:t>Teams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32688" y="53492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</a:rPr>
              <a:t>Recommendation: one internal platform owns provider integration, delivery policy, retries, and auditability.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not let every application send email directly?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The shared service removes duplicated engineering and operational risk.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73152" cy="4489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6479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Direct per-app email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2057400"/>
            <a:ext cx="333756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Each team owns Graph / SMTP integration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Secrets spread across apps and jobs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Different templates and sender identities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Inconsistent retry and attachment handling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Hard to add ServiceNow or Teams later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No single audit trail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43984" y="160020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62272" y="1618488"/>
            <a:ext cx="73152" cy="44897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764792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Shared notification service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08576" y="2057400"/>
            <a:ext cx="3337560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One API for all apps and batch processes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Centralized Graph and ServiceNow access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Standard templates, routing, and policy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Queueing, retries, DLQ, and idempotency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Delivery history by notification 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Easy future channel expansion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74736" y="1600200"/>
            <a:ext cx="3310128" cy="452628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618488"/>
            <a:ext cx="73152" cy="448970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764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Benefits to each team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2057400"/>
            <a:ext cx="3035808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Less code to build and support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No provider-specific knowledge required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Faster onboarding for new apps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Cleaner production support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Consistent security and compliance controls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Safer handling of attachments and ticket creation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principles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The architecture is intentionally simple for callers and strict at the platform boundary.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73152" cy="17922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6479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Simple for callers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057400"/>
            <a:ext cx="187452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Apps send business payloads only. They do not know Graph IDs, tenant details, or ServiceNow APIs.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35808" y="16002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54096" y="1618488"/>
            <a:ext cx="73152" cy="17922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6479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Asynchronous by default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187452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Accept requests quickly, queue work, and isolate callers from Graph or ServiceNow latency/outages.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340096" y="16002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58384" y="1618488"/>
            <a:ext cx="73152" cy="179222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176479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One place for policy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04688" y="2057400"/>
            <a:ext cx="187452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Centralize templates, sender identities, routing rules, retries, and environment controls.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44384" y="160020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62672" y="1618488"/>
            <a:ext cx="73152" cy="179222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08976" y="176479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Audit everything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08976" y="2057400"/>
            <a:ext cx="187452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Generate a notification ID, capture provider response IDs, and retain channel-level delivery status.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48672" y="1600200"/>
            <a:ext cx="1508760" cy="18288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66960" y="1618488"/>
            <a:ext cx="73152" cy="179222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13264" y="1764792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Future ready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13264" y="2057400"/>
            <a:ext cx="1234440" cy="1243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Email now. ServiceNow now. Teams later.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10744200" cy="1920240"/>
          </a:xfrm>
          <a:prstGeom prst="roundRect">
            <a:avLst>
              <a:gd name="adj" fmla="val 3810"/>
            </a:avLst>
          </a:prstGeom>
          <a:solidFill>
            <a:srgbClr val="FBFCFE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69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External API contract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4400" y="4407408"/>
            <a:ext cx="38862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"eventType": "JobFailed",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"severity": "high",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"Billing load failed",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"Step 4 failed during import.",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"requestedChannels": ["email"],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"businessKey": "BillingLoad-2026-04-10-0100"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069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Internal service responsibilities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5504688" y="4480560"/>
            <a:ext cx="64008" cy="640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32704" y="44074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Generate notificationId and audit record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04688" y="4764024"/>
            <a:ext cx="64008" cy="640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46908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Route to email and/or ServiceNow adapters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04688" y="5047488"/>
            <a:ext cx="64008" cy="640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49743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Manage provider credentials and token acquisition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04688" y="5330952"/>
            <a:ext cx="64008" cy="640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32704" y="5257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Handle retries, DLQ, status updates, and deduplication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AWS hosts the shared platform; Microsoft 365 and ServiceNow remain downstream systems.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Internal producers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08960" y="150876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AWS notification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0" y="1508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Enterprise systems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3063240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86200" y="233172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233172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86600" y="2331720"/>
            <a:ext cx="4114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03920" y="3218688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03920" y="3950208"/>
            <a:ext cx="45720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4681728"/>
            <a:ext cx="457200" cy="0"/>
          </a:xfrm>
          <a:prstGeom prst="line">
            <a:avLst/>
          </a:prstGeom>
          <a:noFill/>
          <a:ln w="12700">
            <a:solidFill>
              <a:srgbClr val="16653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" y="2057400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2167128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.NET apps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2423160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" y="2798064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90779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SQL jobs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0976" y="3163824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3538728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648456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Java apps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976" y="3904488"/>
            <a:ext cx="850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14600" y="18745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12700">
            <a:solidFill>
              <a:srgbClr val="BFD2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24328" y="198424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API Gateway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60904" y="224028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Internal HTTPS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18745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12700">
            <a:solidFill>
              <a:srgbClr val="BFD2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24528" y="198424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Ingress API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61104" y="224028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Validate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Normalize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15000" y="18745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24728" y="1984248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Audit Store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61304" y="224028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Status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History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0" y="18745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12700">
            <a:solidFill>
              <a:srgbClr val="BFD2FF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24928" y="19842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Queue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61504" y="224028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Routing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SQS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2971800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9FBF8"/>
          </a:solidFill>
          <a:ln w="12700">
            <a:solidFill>
              <a:srgbClr val="B3EDE5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24928" y="30815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Email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461504" y="3337560"/>
            <a:ext cx="8046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15200" y="3703320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FFF6ED"/>
          </a:solidFill>
          <a:ln w="12700">
            <a:solidFill>
              <a:srgbClr val="FFD7B5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24928" y="381304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410C"/>
                </a:solidFill>
              </a:rPr>
              <a:t>SNOW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61504" y="4069080"/>
            <a:ext cx="8046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4434840"/>
            <a:ext cx="1097280" cy="475488"/>
          </a:xfrm>
          <a:prstGeom prst="roundRect">
            <a:avLst>
              <a:gd name="adj" fmla="val 15385"/>
            </a:avLst>
          </a:prstGeom>
          <a:solidFill>
            <a:srgbClr val="ECFDF3"/>
          </a:solidFill>
          <a:ln w="12700">
            <a:solidFill>
              <a:srgbClr val="CBEFC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24928" y="454456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6534"/>
                </a:solidFill>
              </a:rPr>
              <a:t>Teams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61504" y="4800600"/>
            <a:ext cx="804672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961120" y="294436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6FAFF"/>
          </a:solidFill>
          <a:ln w="12700">
            <a:solidFill>
              <a:srgbClr val="D8E0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070848" y="305409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Microsoft 365 / Graph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07424" y="3310128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Email now • Teams later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61120" y="367588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070848" y="378561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ServiceNow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107424" y="4041648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Incident / task creation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961120" y="440740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070848" y="45171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Identity + secrets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107424" y="4773168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Entra app + SNOW account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960" y="589788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151"/>
                </a:solidFill>
              </a:rPr>
              <a:t>Core idea: apps integrate once with the internal API; only the platform speaks provider-specific protocols.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A single request turns into durable, traceable channel work.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Caller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9844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5292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Audit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6188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Email Adapter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1636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SNOW Adapter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7084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0412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Downstream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25328" y="1828800"/>
            <a:ext cx="0" cy="38862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8448" y="2057400"/>
            <a:ext cx="155448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44168" y="192938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POST notification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52928" y="2468880"/>
            <a:ext cx="155448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898648" y="23408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create notificationId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52928" y="2880360"/>
            <a:ext cx="310896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898648" y="27523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enqueue channel work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61888" y="3291840"/>
            <a:ext cx="155448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007608" y="316382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email message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16368" y="3703320"/>
            <a:ext cx="310896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562088" y="35753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Graph send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61888" y="4114800"/>
            <a:ext cx="310896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007608" y="398678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ticket message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70848" y="4526280"/>
            <a:ext cx="1554480" cy="0"/>
          </a:xfrm>
          <a:prstGeom prst="line">
            <a:avLst/>
          </a:prstGeom>
          <a:noFill/>
          <a:ln w="12700">
            <a:solidFill>
              <a:srgbClr val="C2410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116568" y="43982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create incident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07408" y="4937760"/>
            <a:ext cx="31089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453128" y="480974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update delivery 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07408" y="5349240"/>
            <a:ext cx="46634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453128" y="522122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update ticket status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298448" y="5623560"/>
            <a:ext cx="155448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344168" y="549554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202 Accepted + notificationId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applications should integrate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Thin client, no direct Graph fallback, optional local outbox for critical events.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09928"/>
            <a:ext cx="73152" cy="3483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5623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Recommended client pattern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832" y="2148840"/>
            <a:ext cx="3246120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1. Detect business event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2. Build notification payload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3. Call shared service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4. Receive 202 + notificationId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5. Log correlation for support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6. Optionally replay from local outbox if the call fails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7408" y="169164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5696" y="1709928"/>
            <a:ext cx="73152" cy="348386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562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Do not do this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108960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Do not embed Graph credentials in every 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Do not implement per-app email templates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Do not send direct Graph email as a normal fallback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Do not create ServiceNow tickets from app code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0416" y="1691640"/>
            <a:ext cx="3493008" cy="352044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18704" y="1709928"/>
            <a:ext cx="73152" cy="348386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Fallback policy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65008" y="2148840"/>
            <a:ext cx="3218688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Default: short retry + fail gracefully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Important apps: local durable outbox + replay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Critical events: outbox + operational alert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Break-glass direct provider path should be rare and centrally governed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440680"/>
            <a:ext cx="10607040" cy="512064"/>
          </a:xfrm>
          <a:prstGeom prst="roundRect">
            <a:avLst>
              <a:gd name="adj" fmla="val 10714"/>
            </a:avLst>
          </a:prstGeom>
          <a:solidFill>
            <a:srgbClr val="F9FB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5961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151"/>
                </a:solidFill>
              </a:rPr>
              <a:t>Result: one operational model for all teams, with resilience around the service instead of duplicated provider logic inside every application.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requirements and access needed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The project depends as much on governance and integration access as on code.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73152" cy="43525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05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AWS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103120"/>
            <a:ext cx="2331720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API Gateway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Lambda or .NET runtime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SQS and DLQ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Secrets Manager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CloudWatch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IAM roles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Optional EventBridge / Step Functions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664208"/>
            <a:ext cx="73152" cy="43525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105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Microsoft 365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39312" y="2103120"/>
            <a:ext cx="2331720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Entra app registration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Tenant + client identity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Secret or certificate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Mail.Send permission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Admin consent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Shared mailbox / sender policy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06040" cy="4389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664208"/>
            <a:ext cx="73152" cy="435254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8105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ServiceNow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82512" y="2103120"/>
            <a:ext cx="2331720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Integration account / OAuth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API access to incident table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Required field mapping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Assignment group rules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Non-prod test access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0" y="1645920"/>
            <a:ext cx="2514600" cy="4389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79408" y="1664208"/>
            <a:ext cx="73152" cy="435254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81051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Security + ops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25712" y="2103120"/>
            <a:ext cx="2240280" cy="3803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Client authentication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Encryption + secret rotation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Logging and retention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External recipient policy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Runbooks and alerting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</a:rPr>
              <a:t>• Environment promotion path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and phased rollout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</a:rPr>
              <a:t>Start narrow, prove reliability, then add richer routing and channels.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463040" y="3246120"/>
            <a:ext cx="89611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80360" y="3246120"/>
            <a:ext cx="868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77840" y="3246120"/>
            <a:ext cx="868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75320" y="3246120"/>
            <a:ext cx="8686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2907792"/>
            <a:ext cx="658368" cy="658368"/>
          </a:xfrm>
          <a:prstGeom prst="ellipse">
            <a:avLst/>
          </a:prstGeom>
          <a:solidFill>
            <a:srgbClr val="E8F0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Phase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37307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Shared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Email via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ServiceNow ticket creation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Audit + retry + DLQ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2907792"/>
            <a:ext cx="658368" cy="658368"/>
          </a:xfrm>
          <a:prstGeom prst="ellipse">
            <a:avLst/>
          </a:prstGeom>
          <a:solidFill>
            <a:srgbClr val="E6FFFB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0574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Phase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37307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Templates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Routing rules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Attachment patterns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Client SDKs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907792"/>
            <a:ext cx="658368" cy="658368"/>
          </a:xfrm>
          <a:prstGeom prst="ellipse">
            <a:avLst/>
          </a:prstGeom>
          <a:solidFill>
            <a:srgbClr val="FFF2E8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0574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Phase 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06440" y="37307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Teams adapter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Self-service config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Reporting 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Operational analytics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907792"/>
            <a:ext cx="658368" cy="658368"/>
          </a:xfrm>
          <a:prstGeom prst="ellipse">
            <a:avLst/>
          </a:prstGeom>
          <a:solidFill>
            <a:srgbClr val="ECFDF3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0574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</a:rPr>
              <a:t>Outcome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730752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One 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Lower app complexity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Better control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Faster onboarding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5440680"/>
            <a:ext cx="105613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8E0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60527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decision: approve the shared notification service as the standard enterprise pattern for internal email and ticket notifications.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Notification Service Architecture</dc:title>
  <dc:subject>Internal Notification Service Architecture</dc:subject>
  <dc:creator>OpenAI</dc:creator>
  <cp:lastModifiedBy>OpenAI</cp:lastModifiedBy>
  <cp:revision>1</cp:revision>
  <dcterms:created xsi:type="dcterms:W3CDTF">2026-04-13T01:52:44Z</dcterms:created>
  <dcterms:modified xsi:type="dcterms:W3CDTF">2026-04-13T01:52:44Z</dcterms:modified>
</cp:coreProperties>
</file>